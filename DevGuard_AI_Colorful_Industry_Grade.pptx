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AGENTIC GENAI • CODE SECURITY • ENGINEERING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DEVGUARD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8FF"/>
                </a:solidFill>
              </a:defRPr>
            </a:pPr>
            <a:r>
              <a:t>From source code to evidence-backed security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65176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AEBCD7"/>
                </a:solidFill>
              </a:defRPr>
            </a:pPr>
            <a:r>
              <a:t>AST intelligence  +  deterministic rules  +  hybrid RAG  +  agentic LLM reasoning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554480" cy="59436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AST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39" y="3657600"/>
            <a:ext cx="1554480" cy="59436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79" y="3840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RAG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59" y="3657600"/>
            <a:ext cx="1554480" cy="594360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840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AGENTS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79" y="3657600"/>
            <a:ext cx="1554480" cy="59436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5F8FF"/>
                </a:solidFill>
              </a:defRPr>
            </a:pPr>
            <a:r>
              <a:t>GUARDRAILS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5F8FF"/>
                </a:solidFill>
              </a:defRPr>
            </a:pPr>
            <a:r>
              <a:t>GitHub  •  github.com/Taqhi-adf/DevGuard_AI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4924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EBCD7"/>
                </a:solidFill>
              </a:defRPr>
            </a:pPr>
            <a:r>
              <a:t>taqhibaba9@gmail.com  |  taqhibaba11@gmail.com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71500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AEBCD7"/>
                </a:solidFill>
              </a:defRPr>
            </a:pPr>
            <a:r>
              <a:t>www.linkedin.com/in/taqhi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BUSINESS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Why DevGuard AI?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81912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Code review needs security context—not only syntax feedback.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67128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LLM-only reviews can be inconsistent, noisy or weakly grounded.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734056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2715768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Developers need precise evidence, severity and remediation.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300984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282696"/>
            <a:ext cx="7040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DevGuard combines deterministic detection with contextual GenAI.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246120" cy="960120"/>
          </a:xfrm>
          <a:prstGeom prst="roundRect">
            <a:avLst/>
          </a:prstGeom>
          <a:solidFill>
            <a:srgbClr val="141D34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176479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754BDC"/>
                </a:solidFill>
              </a:defRPr>
            </a:pPr>
            <a: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78308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</a:defRPr>
            </a:pPr>
            <a:r>
              <a:t>OWASP Top 10 release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2834640"/>
            <a:ext cx="3246120" cy="960120"/>
          </a:xfrm>
          <a:prstGeom prst="roundRect">
            <a:avLst/>
          </a:prstGeom>
          <a:solidFill>
            <a:srgbClr val="141D34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299923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EF5350"/>
                </a:solidFill>
              </a:defRPr>
            </a:pPr>
            <a:r>
              <a:t>A05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01752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</a:defRPr>
            </a:pPr>
            <a:r>
              <a:t>Injection is a current Top-10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92440" y="4069080"/>
            <a:ext cx="3246120" cy="960120"/>
          </a:xfrm>
          <a:prstGeom prst="roundRect">
            <a:avLst/>
          </a:prstGeom>
          <a:solidFill>
            <a:srgbClr val="141D34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19" y="4233672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2070DC"/>
                </a:solidFill>
              </a:defRPr>
            </a:pPr>
            <a:r>
              <a:t>248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251960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5F8FF"/>
                </a:solidFill>
              </a:defRPr>
            </a:pPr>
            <a:r>
              <a:t>CWEs across 10 OWASP 2025 categories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SYSTEM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Solution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57400"/>
            <a:ext cx="1417320" cy="658368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2212848"/>
            <a:ext cx="1271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CODE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57400" y="2386584"/>
            <a:ext cx="42976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14600" y="2057400"/>
            <a:ext cx="1417320" cy="658368"/>
          </a:xfrm>
          <a:prstGeom prst="roundRect">
            <a:avLst/>
          </a:prstGeom>
          <a:solidFill>
            <a:srgbClr val="EF535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2212848"/>
            <a:ext cx="1271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RULES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2386584"/>
            <a:ext cx="42976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89120" y="2057400"/>
            <a:ext cx="1417320" cy="658368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2212848"/>
            <a:ext cx="1271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RETRIEVE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806440" y="2386584"/>
            <a:ext cx="42976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63640" y="2057400"/>
            <a:ext cx="1417320" cy="658368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212848"/>
            <a:ext cx="1271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RERANK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80959" y="2386584"/>
            <a:ext cx="42976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38159" y="2057400"/>
            <a:ext cx="1417320" cy="658368"/>
          </a:xfrm>
          <a:prstGeom prst="roundRect">
            <a:avLst/>
          </a:prstGeom>
          <a:solidFill>
            <a:srgbClr val="F5BE46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1" y="2212848"/>
            <a:ext cx="1271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REASON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2386584"/>
            <a:ext cx="42976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2680" y="2057400"/>
            <a:ext cx="1417320" cy="658368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85832" y="2212848"/>
            <a:ext cx="12710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VALIDATE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94760"/>
            <a:ext cx="10241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</a:defRPr>
            </a:pPr>
            <a:r>
              <a:t>A layered architecture keeps high-confidence checks deterministic while using LLMs for contextual reasoning.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End-to-End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1371600"/>
            <a:ext cx="1508760" cy="566928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27048"/>
            <a:ext cx="1362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Streamlit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371600"/>
            <a:ext cx="1508760" cy="566928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527048"/>
            <a:ext cx="1362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1371600"/>
            <a:ext cx="1508760" cy="566928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1527048"/>
            <a:ext cx="1362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1371600"/>
            <a:ext cx="1508760" cy="566928"/>
          </a:xfrm>
          <a:prstGeom prst="roundRect">
            <a:avLst/>
          </a:prstGeom>
          <a:solidFill>
            <a:srgbClr val="EF535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1527048"/>
            <a:ext cx="1362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AST + Rules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371600"/>
            <a:ext cx="1508760" cy="566928"/>
          </a:xfrm>
          <a:prstGeom prst="roundRect">
            <a:avLst/>
          </a:prstGeom>
          <a:solidFill>
            <a:srgbClr val="F5BE46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1527048"/>
            <a:ext cx="1362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Hybrid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2743200"/>
            <a:ext cx="1508760" cy="566928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898648"/>
            <a:ext cx="13624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Qwen LLM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331720" y="1655064"/>
            <a:ext cx="41148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51960" y="1655064"/>
            <a:ext cx="41148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172200" y="1655064"/>
            <a:ext cx="41148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092440" y="1655064"/>
            <a:ext cx="41148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012680" y="1655064"/>
            <a:ext cx="548640" cy="996696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657600" y="3200400"/>
            <a:ext cx="1554480" cy="566928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30752" y="3355848"/>
            <a:ext cx="1408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Qdrant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3200400"/>
            <a:ext cx="1554480" cy="566928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559552" y="3355848"/>
            <a:ext cx="14081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BM25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200400"/>
            <a:ext cx="1828800" cy="566928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3355848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Cross Encoder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66360" y="3483864"/>
            <a:ext cx="32004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7040880" y="3483864"/>
            <a:ext cx="27432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183879" y="3337560"/>
            <a:ext cx="2377441" cy="45720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489204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8FF"/>
                </a:solidFill>
              </a:defRPr>
            </a:pPr>
            <a:r>
              <a:t>Evidence-backed final review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LANGGRAPH 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Agentic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286000"/>
            <a:ext cx="1143000" cy="59436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START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54480" y="2578608"/>
            <a:ext cx="29260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56232" y="2286000"/>
            <a:ext cx="1143000" cy="59436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29384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ANALYZE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99232" y="2578608"/>
            <a:ext cx="29260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984" y="2286000"/>
            <a:ext cx="1143000" cy="594360"/>
          </a:xfrm>
          <a:prstGeom prst="roundRect">
            <a:avLst/>
          </a:prstGeom>
          <a:solidFill>
            <a:srgbClr val="EF535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74136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DETECT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43984" y="2578608"/>
            <a:ext cx="29260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745736" y="2286000"/>
            <a:ext cx="1143000" cy="59436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RETRIEVE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88736" y="2578608"/>
            <a:ext cx="29260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90488" y="2286000"/>
            <a:ext cx="1143000" cy="594360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RERANK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33488" y="2578608"/>
            <a:ext cx="29260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35240" y="2286000"/>
            <a:ext cx="1143000" cy="594360"/>
          </a:xfrm>
          <a:prstGeom prst="roundRect">
            <a:avLst/>
          </a:prstGeom>
          <a:solidFill>
            <a:srgbClr val="F5BE46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08392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REASON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778240" y="2578608"/>
            <a:ext cx="29260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079992" y="2286000"/>
            <a:ext cx="1143000" cy="59436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53144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VALIDATE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222992" y="2578608"/>
            <a:ext cx="292608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10524744" y="2286000"/>
            <a:ext cx="1143000" cy="59436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97896" y="2441448"/>
            <a:ext cx="9966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977639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</a:defRPr>
            </a:pPr>
            <a:r>
              <a:t>Controlled state transitions make the AI workflow inspectable and extensible.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AST-AWARE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Code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06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2BD3C9"/>
                </a:solidFill>
              </a:defRPr>
            </a:pPr>
            <a:r>
              <a:t>SOURCE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280160"/>
            <a:ext cx="1828800" cy="64008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435607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Python AST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280160"/>
            <a:ext cx="2011680" cy="64008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1435607"/>
            <a:ext cx="18653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Functions / Classes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80160"/>
            <a:ext cx="1920240" cy="640080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19872" y="1435607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Line Evidence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1600200"/>
            <a:ext cx="18288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72000" y="1600200"/>
            <a:ext cx="73152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15200" y="1600200"/>
            <a:ext cx="73152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" y="2743200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2724912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Preserves file path and source ranges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310128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291840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Produces better context than naive text chunking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3877056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858768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Supports deterministic findings with traceable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4443983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4425696"/>
            <a:ext cx="9784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Designed for future multi-language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DETERMINISTIC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Security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07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600200"/>
            <a:ext cx="3154680" cy="1234440"/>
          </a:xfrm>
          <a:prstGeom prst="roundRect">
            <a:avLst/>
          </a:prstGeom>
          <a:solidFill>
            <a:srgbClr val="141D34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105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F5350"/>
                </a:solidFill>
              </a:defRPr>
            </a:pPr>
            <a:r>
              <a:t>SEC001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</a:defRPr>
            </a:pPr>
            <a:r>
              <a:t>Hard-coded secret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600200"/>
            <a:ext cx="3154680" cy="1234440"/>
          </a:xfrm>
          <a:prstGeom prst="roundRect">
            <a:avLst/>
          </a:prstGeom>
          <a:solidFill>
            <a:srgbClr val="141D34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8105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F5350"/>
                </a:solidFill>
              </a:defRPr>
            </a:pPr>
            <a:r>
              <a:t>SEC002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1945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</a:defRPr>
            </a:pPr>
            <a:r>
              <a:t>eval / exec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600200"/>
            <a:ext cx="3154680" cy="1234440"/>
          </a:xfrm>
          <a:prstGeom prst="roundRect">
            <a:avLst/>
          </a:prstGeom>
          <a:solidFill>
            <a:srgbClr val="141D34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181051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46"/>
                </a:solidFill>
              </a:defRPr>
            </a:pPr>
            <a:r>
              <a:t>SEC003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19456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5F8FF"/>
                </a:solidFill>
              </a:defRPr>
            </a:pPr>
            <a:r>
              <a:t>SQL injection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94760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F8FF"/>
                </a:solidFill>
              </a:defRPr>
            </a:pPr>
            <a:r>
              <a:t>Finding → severity → evidence → remediation → confidence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43484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AEBCD7"/>
                </a:solidFill>
              </a:defRPr>
            </a:pPr>
            <a:r>
              <a:t>These deterministic signals become grounded inputs for downstream AI reasoning.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RETRIEVAL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Hybrid RAG + Reranking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08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1645920" cy="59436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1" y="1572768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Security Policies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1097280"/>
            <a:ext cx="1645920" cy="6858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16352" y="1252728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Qdrant</a:t>
            </a:r>
            <a:br/>
            <a:r>
              <a:t>Dense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057400"/>
            <a:ext cx="1645920" cy="685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2212848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BM25</a:t>
            </a:r>
            <a:br/>
            <a:r>
              <a:t>Sparse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1554480"/>
            <a:ext cx="1737360" cy="685800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2" y="1709928"/>
            <a:ext cx="159105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Candidate</a:t>
            </a:r>
            <a:br/>
            <a:r>
              <a:t>Fusion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1554480"/>
            <a:ext cx="1920240" cy="685800"/>
          </a:xfrm>
          <a:prstGeom prst="roundRect">
            <a:avLst/>
          </a:prstGeom>
          <a:solidFill>
            <a:srgbClr val="F5BE46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45552" y="1709928"/>
            <a:ext cx="17739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Cross-Encoder</a:t>
            </a:r>
            <a:br/>
            <a:r>
              <a:t>Reranker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49840" y="1554480"/>
            <a:ext cx="1463040" cy="6858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22992" y="1709928"/>
            <a:ext cx="131673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Top Evidence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2286000" y="1444752"/>
            <a:ext cx="457200" cy="27432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1719072"/>
            <a:ext cx="457200" cy="676656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89120" y="1444752"/>
            <a:ext cx="914400" cy="429767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389120" y="1874519"/>
            <a:ext cx="914400" cy="521209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040880" y="1874519"/>
            <a:ext cx="73152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692640" y="1874519"/>
            <a:ext cx="45720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14400" y="3794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2BD3C9"/>
                </a:solidFill>
              </a:defRPr>
            </a:pPr>
            <a:r>
              <a:t>Why it matters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251960"/>
            <a:ext cx="10149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900" b="1">
                <a:solidFill>
                  <a:srgbClr val="F5F8FF"/>
                </a:solidFill>
              </a:defRPr>
            </a:pPr>
            <a:r>
              <a:t>Dense search captures meaning • BM25 captures exact terminology • reranking prioritizes relevance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CONTROLLED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LLM + Guardrails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09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1645920" cy="64008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72768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Ollama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417320"/>
            <a:ext cx="1645920" cy="64008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1572768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Qwen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417320"/>
            <a:ext cx="1645920" cy="640080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1572768"/>
            <a:ext cx="149961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Groq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1737360"/>
            <a:ext cx="64008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46320" y="1737360"/>
            <a:ext cx="64008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955279" y="1417320"/>
            <a:ext cx="1828800" cy="64008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1572768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Pydantic</a:t>
            </a:r>
            <a:br/>
            <a:r>
              <a:t>Validation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737360"/>
            <a:ext cx="822959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2926080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2907792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Local model path for development and privacy-conscious experimentation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93008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3474720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Cloud model path for scalable inference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059936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4041648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Structured schema for findings, evidence, remediation and confidence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626864"/>
            <a:ext cx="82296" cy="347472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4608576"/>
            <a:ext cx="9875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F8FF"/>
                </a:solidFill>
              </a:defRPr>
            </a:pPr>
            <a:r>
              <a:t>Model-agnostic design reduces provider lock-in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MEASURE THE AI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Evaluation &amp;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10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17320"/>
            <a:ext cx="3337560" cy="1097280"/>
          </a:xfrm>
          <a:prstGeom prst="roundRect">
            <a:avLst/>
          </a:prstGeom>
          <a:solidFill>
            <a:srgbClr val="141D34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819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070DC"/>
                </a:solidFill>
              </a:defRPr>
            </a:pPr>
            <a:r>
              <a:t>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0116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</a:defRPr>
            </a:pPr>
            <a:r>
              <a:t>Detection quality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417320"/>
            <a:ext cx="3337560" cy="1097280"/>
          </a:xfrm>
          <a:prstGeom prst="roundRect">
            <a:avLst/>
          </a:prstGeom>
          <a:solidFill>
            <a:srgbClr val="141D34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5819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754BDC"/>
                </a:solidFill>
              </a:defRPr>
            </a:pPr>
            <a: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0116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</a:defRPr>
            </a:pPr>
            <a:r>
              <a:t>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337560" cy="1097280"/>
          </a:xfrm>
          <a:prstGeom prst="roundRect">
            <a:avLst/>
          </a:prstGeom>
          <a:solidFill>
            <a:srgbClr val="141D34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58191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BD3C9"/>
                </a:solidFill>
              </a:defRPr>
            </a:pPr>
            <a:r>
              <a:t>F1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</a:defRPr>
            </a:pPr>
            <a:r>
              <a:t>Balanced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26080"/>
            <a:ext cx="3337560" cy="1097280"/>
          </a:xfrm>
          <a:prstGeom prst="roundRect">
            <a:avLst/>
          </a:prstGeom>
          <a:solidFill>
            <a:srgbClr val="141D34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0906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EF5350"/>
                </a:solidFill>
              </a:defRPr>
            </a:pPr>
            <a:r>
              <a:t>FPR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5204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</a:defRPr>
            </a:pPr>
            <a:r>
              <a:t>False alarms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926080"/>
            <a:ext cx="3337560" cy="1097280"/>
          </a:xfrm>
          <a:prstGeom prst="roundRect">
            <a:avLst/>
          </a:prstGeom>
          <a:solidFill>
            <a:srgbClr val="141D34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0906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F5BE46"/>
                </a:solidFill>
              </a:defRPr>
            </a:pPr>
            <a:r>
              <a:t>Recall@K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204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</a:defRPr>
            </a:pPr>
            <a:r>
              <a:t>Retrieval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2926080"/>
            <a:ext cx="3337560" cy="1097280"/>
          </a:xfrm>
          <a:prstGeom prst="roundRect">
            <a:avLst/>
          </a:prstGeom>
          <a:solidFill>
            <a:srgbClr val="141D3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0906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520440"/>
            <a:ext cx="2651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F5F8FF"/>
                </a:solidFill>
              </a:defRPr>
            </a:pPr>
            <a:r>
              <a:t>Ranking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0060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AEBCD7"/>
                </a:solidFill>
              </a:defRPr>
            </a:pPr>
            <a:r>
              <a:t>Also track structured-output validity, groundedness, hallucination rate, P50/P95 latency and error 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4864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D3C9"/>
                </a:solidFill>
              </a:defRPr>
            </a:pPr>
            <a:r>
              <a:t>FACT: OWASP Top 10:2025 contains 248 CWEs across its 10 categories.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INTEGRATION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API + Developer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11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1417320"/>
            <a:ext cx="1828800" cy="685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572768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Streamlit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417320"/>
            <a:ext cx="1828800" cy="6858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1572768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17320"/>
            <a:ext cx="1828800" cy="685800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72768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417320"/>
            <a:ext cx="1828800" cy="68580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572768"/>
            <a:ext cx="16824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F8FF"/>
                </a:solidFill>
              </a:defRPr>
            </a:pPr>
            <a:r>
              <a:t>Review JSON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1755648"/>
            <a:ext cx="91440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486400" y="1755648"/>
            <a:ext cx="91440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229600" y="1755648"/>
            <a:ext cx="91440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88720" y="30632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</a:defRPr>
            </a:pPr>
            <a:r>
              <a:t>GET /health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30632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</a:defRPr>
            </a:pPr>
            <a:r>
              <a:t>POST /review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3063240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2BD3C9"/>
                </a:solidFill>
              </a:defRPr>
            </a:pPr>
            <a:r>
              <a:t>UI • CI/CD • GitHub integration ready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6177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</a:defRPr>
            </a:pPr>
            <a:r>
              <a:t>Clean separation of presentation, API and AI orchestration supports reuse beyond the demo.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BUILT AS SOFTWARE, NOT ONLY A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Engineering &amp; 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12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417320"/>
            <a:ext cx="3383280" cy="1325880"/>
          </a:xfrm>
          <a:prstGeom prst="roundRect">
            <a:avLst/>
          </a:prstGeom>
          <a:solidFill>
            <a:srgbClr val="141D34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070DC"/>
                </a:solidFill>
              </a:defRPr>
            </a:pPr>
            <a:r>
              <a:t>PyTest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07568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</a:defRPr>
            </a:pPr>
            <a:r>
              <a:t>Automated validation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17320"/>
            <a:ext cx="3383280" cy="1325880"/>
          </a:xfrm>
          <a:prstGeom prst="roundRect">
            <a:avLst/>
          </a:prstGeom>
          <a:solidFill>
            <a:srgbClr val="141D34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754BDC"/>
                </a:solidFill>
              </a:defRPr>
            </a:pPr>
            <a:r>
              <a:t>GitHub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07568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</a:defRPr>
            </a:pPr>
            <a:r>
              <a:t>CI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1417320"/>
            <a:ext cx="3383280" cy="1325880"/>
          </a:xfrm>
          <a:prstGeom prst="roundRect">
            <a:avLst/>
          </a:prstGeom>
          <a:solidFill>
            <a:srgbClr val="141D34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16002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BD3C9"/>
                </a:solidFill>
              </a:defRPr>
            </a:pPr>
            <a:r>
              <a:t>Docker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75688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</a:defRPr>
            </a:pPr>
            <a:r>
              <a:t>Reproducible runtime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246120"/>
            <a:ext cx="3383280" cy="1325880"/>
          </a:xfrm>
          <a:prstGeom prst="roundRect">
            <a:avLst/>
          </a:prstGeom>
          <a:solidFill>
            <a:srgbClr val="141D34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429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BE46"/>
                </a:solidFill>
              </a:defRPr>
            </a:pPr>
            <a:r>
              <a:t>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04487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</a:defRPr>
            </a:pPr>
            <a:r>
              <a:t>API + Qdrant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34840" y="3246120"/>
            <a:ext cx="3383280" cy="1325880"/>
          </a:xfrm>
          <a:prstGeom prst="roundRect">
            <a:avLst/>
          </a:prstGeom>
          <a:solidFill>
            <a:srgbClr val="141D34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429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3904487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</a:defRPr>
            </a:pPr>
            <a:r>
              <a:t>Environment config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3246120"/>
            <a:ext cx="3383280" cy="1325880"/>
          </a:xfrm>
          <a:prstGeom prst="roundRect">
            <a:avLst/>
          </a:prstGeom>
          <a:solidFill>
            <a:srgbClr val="141D34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58200" y="3429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EF5350"/>
                </a:solidFill>
              </a:defRPr>
            </a:pPr>
            <a:r>
              <a:t>Cloud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904487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F5F8FF"/>
                </a:solidFill>
              </a:defRPr>
            </a:pPr>
            <a:r>
              <a:t>Deployment path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1663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</a:defRPr>
            </a:pPr>
            <a:r>
              <a:t>Engineering goal: reproducibility + testability + deployability.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INTERVIEW-READY WALKTHROUGH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Live Demo Scenario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13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417320"/>
            <a:ext cx="2514600" cy="123444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52704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58191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Paste vulnerable 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1417320"/>
            <a:ext cx="2514600" cy="1234440"/>
          </a:xfrm>
          <a:prstGeom prst="roundRect">
            <a:avLst/>
          </a:prstGeom>
          <a:solidFill>
            <a:srgbClr val="EF5350"/>
          </a:solidFill>
          <a:ln>
            <a:solidFill>
              <a:srgbClr val="EF5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52704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158191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AST + rules flag risks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417320"/>
            <a:ext cx="2514600" cy="123444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2704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158191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Retrieve security policy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417320"/>
            <a:ext cx="2514600" cy="1234440"/>
          </a:xfrm>
          <a:prstGeom prst="round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1160" y="152704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58191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Rerank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291839"/>
            <a:ext cx="2514600" cy="1234440"/>
          </a:xfrm>
          <a:prstGeom prst="roundRect">
            <a:avLst/>
          </a:prstGeom>
          <a:solidFill>
            <a:srgbClr val="F5BE46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4015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45643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Qwen generates remediation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3291839"/>
            <a:ext cx="2514600" cy="1234440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34015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45643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Pydantic validates output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291839"/>
            <a:ext cx="2514600" cy="123444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4015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345643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Dashboard shows findings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0" y="3291839"/>
            <a:ext cx="2514600" cy="123444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1160" y="3401568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F5F8FF"/>
                </a:solidFill>
              </a:defRPr>
            </a:pPr>
            <a: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3456432"/>
            <a:ext cx="1783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5F8FF"/>
                </a:solidFill>
              </a:defRPr>
            </a:pPr>
            <a:r>
              <a:t>Benchmark produces measured metrics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BD3C9"/>
                </a:solidFill>
              </a:defRPr>
            </a:pPr>
            <a:r>
              <a:t>Result: deterministic findings + evidence-backed AI review + measurable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SCALE THE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Production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14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828800"/>
            <a:ext cx="2423160" cy="1371600"/>
          </a:xfrm>
          <a:prstGeom prst="roundRect">
            <a:avLst/>
          </a:prstGeom>
          <a:solidFill>
            <a:srgbClr val="141D34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057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070DC"/>
                </a:solidFill>
              </a:defRPr>
            </a:pPr>
            <a:r>
              <a:t>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420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</a:defRPr>
            </a:pPr>
            <a:r>
              <a:t>Core AI review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17520" y="2514600"/>
            <a:ext cx="45720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474720" y="1828800"/>
            <a:ext cx="2423160" cy="1371600"/>
          </a:xfrm>
          <a:prstGeom prst="roundRect">
            <a:avLst/>
          </a:prstGeom>
          <a:solidFill>
            <a:srgbClr val="141D34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057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754BDC"/>
                </a:solidFill>
              </a:defRPr>
            </a:pPr>
            <a:r>
              <a:t>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5420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</a:defRPr>
            </a:pPr>
            <a:r>
              <a:t>GitHub PR automation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97879" y="2514600"/>
            <a:ext cx="45720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355080" y="1828800"/>
            <a:ext cx="2423160" cy="1371600"/>
          </a:xfrm>
          <a:prstGeom prst="roundRect">
            <a:avLst/>
          </a:prstGeom>
          <a:solidFill>
            <a:srgbClr val="141D34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057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2BD3C9"/>
                </a:solidFill>
              </a:defRPr>
            </a:pPr>
            <a:r>
              <a:t>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420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</a:defRPr>
            </a:pPr>
            <a:r>
              <a:t>Cloud Qdrant + LLM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0" y="2514600"/>
            <a:ext cx="457200" cy="0"/>
          </a:xfrm>
          <a:prstGeom prst="line">
            <a:avLst/>
          </a:prstGeom>
          <a:ln w="25400">
            <a:solidFill>
              <a:srgbClr val="2BD3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235440" y="1828800"/>
            <a:ext cx="2423160" cy="1371600"/>
          </a:xfrm>
          <a:prstGeom prst="roundRect">
            <a:avLst/>
          </a:prstGeom>
          <a:solidFill>
            <a:srgbClr val="141D34"/>
          </a:solidFill>
          <a:ln>
            <a:solidFill>
              <a:srgbClr val="F5B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20574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BE46"/>
                </a:solidFill>
              </a:defRPr>
            </a:pPr>
            <a:r>
              <a:t>ENTERPRISE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2542032"/>
            <a:ext cx="2011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5F8FF"/>
                </a:solidFill>
              </a:defRPr>
            </a:pPr>
            <a:r>
              <a:t>RBAC + audit + HITL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89120"/>
            <a:ext cx="10241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5F8FF"/>
                </a:solidFill>
              </a:defRPr>
            </a:pPr>
            <a:r>
              <a:t>Future: multi-language analysis • PR gates • observability • enterprise policy management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6"/>
          </a:solidFill>
          <a:ln>
            <a:solidFill>
              <a:srgbClr val="0A12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52560" y="-182880"/>
            <a:ext cx="3474720" cy="2743200"/>
          </a:xfrm>
          <a:prstGeom prst="roundRect">
            <a:avLst/>
          </a:prstGeom>
          <a:solidFill>
            <a:srgbClr val="754BDC"/>
          </a:solidFill>
          <a:ln>
            <a:solidFill>
              <a:srgbClr val="754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5303520"/>
            <a:ext cx="2743200" cy="1828800"/>
          </a:xfrm>
          <a:prstGeom prst="roundRect">
            <a:avLst/>
          </a:prstGeom>
          <a:solidFill>
            <a:srgbClr val="2070DC"/>
          </a:solidFill>
          <a:ln>
            <a:solidFill>
              <a:srgbClr val="2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BD3C9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2BD3C9"/>
                </a:solidFill>
              </a:defRPr>
            </a:pPr>
            <a:r>
              <a:t>CLOSING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836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700" b="1">
                <a:solidFill>
                  <a:srgbClr val="F5F8FF"/>
                </a:solidFill>
              </a:defRPr>
            </a:pPr>
            <a:r>
              <a:t>From LLM Prototype → Reliable AI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384048"/>
            <a:ext cx="822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AEBCD7"/>
                </a:solidFill>
              </a:defRPr>
            </a:pPr>
            <a:r>
              <a:t>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AEBCD7"/>
                </a:solidFill>
              </a:defRPr>
            </a:pPr>
            <a:r>
              <a:t>DEVGUARD AI  •  MA TAQHI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087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BD3C9"/>
                </a:solidFill>
              </a:defRPr>
            </a:pPr>
            <a:r>
              <a:t>GENAI  +  RAG  +  AGENTS  +  SECURITY  +  EVALUATION  +  DEVOPS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5F8FF"/>
                </a:solidFill>
              </a:defRPr>
            </a:pPr>
            <a:r>
              <a:t>The engineering differentiator is not the model alone—it is the system around 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383280"/>
            <a:ext cx="9418320" cy="1143000"/>
          </a:xfrm>
          <a:prstGeom prst="roundRect">
            <a:avLst/>
          </a:prstGeom>
          <a:solidFill>
            <a:srgbClr val="141D34"/>
          </a:solidFill>
          <a:ln>
            <a:solidFill>
              <a:srgbClr val="2BD3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639312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5F8FF"/>
                </a:solidFill>
              </a:defRPr>
            </a:pPr>
            <a:r>
              <a:t>github.com/Taqhi-adf/DevGuard_AI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16052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EBCD7"/>
                </a:solidFill>
              </a:defRPr>
            </a:pPr>
            <a:r>
              <a:t>taqhibaba9@gmail.com  •  taqhibaba11@gmail.com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617720"/>
            <a:ext cx="8869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0">
                <a:solidFill>
                  <a:srgbClr val="AEBCD7"/>
                </a:solidFill>
              </a:defRPr>
            </a:pPr>
            <a:r>
              <a:t>www.linkedin.com/in/taqhi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532120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5BE46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